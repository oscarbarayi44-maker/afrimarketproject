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371600"/>
            <a:ext cx="12191695" cy="1097280"/>
          </a:xfrm>
          <a:prstGeom prst="rect">
            <a:avLst/>
          </a:prstGeom>
          <a:noFill/>
        </p:spPr>
        <p:txBody>
          <a:bodyPr wrap="square" anchor="t">
            <a:spAutoFit/>
          </a:bodyPr>
          <a:lstStyle/>
          <a:p>
            <a:pPr algn="ctr">
              <a:lnSpc>
                <a:spcPct val="100000"/>
              </a:lnSpc>
            </a:pPr>
            <a:r>
              <a:rPr sz="5400" b="1" i="0">
                <a:solidFill>
                  <a:srgbClr val="FFFFFF"/>
                </a:solidFill>
                <a:latin typeface="Calibri"/>
              </a:rPr>
              <a:t>AfriMarket</a:t>
            </a:r>
          </a:p>
        </p:txBody>
      </p:sp>
      <p:sp>
        <p:nvSpPr>
          <p:cNvPr id="5" name="TextBox 4"/>
          <p:cNvSpPr txBox="1"/>
          <p:nvPr/>
        </p:nvSpPr>
        <p:spPr>
          <a:xfrm>
            <a:off x="731520" y="2651760"/>
            <a:ext cx="10728655" cy="914400"/>
          </a:xfrm>
          <a:prstGeom prst="rect">
            <a:avLst/>
          </a:prstGeom>
          <a:noFill/>
        </p:spPr>
        <p:txBody>
          <a:bodyPr wrap="square" anchor="t">
            <a:spAutoFit/>
          </a:bodyPr>
          <a:lstStyle/>
          <a:p>
            <a:pPr algn="ctr">
              <a:lnSpc>
                <a:spcPct val="100000"/>
              </a:lnSpc>
            </a:pPr>
            <a:r>
              <a:rPr sz="3000" b="1" i="0">
                <a:solidFill>
                  <a:srgbClr val="FFFFFF"/>
                </a:solidFill>
                <a:latin typeface="Calibri"/>
              </a:rPr>
              <a:t>Analyse stratégique des données commerciales</a:t>
            </a:r>
          </a:p>
        </p:txBody>
      </p:sp>
      <p:sp>
        <p:nvSpPr>
          <p:cNvPr id="6" name="TextBox 5"/>
          <p:cNvSpPr txBox="1"/>
          <p:nvPr/>
        </p:nvSpPr>
        <p:spPr>
          <a:xfrm>
            <a:off x="731520" y="3429000"/>
            <a:ext cx="10728655" cy="457200"/>
          </a:xfrm>
          <a:prstGeom prst="rect">
            <a:avLst/>
          </a:prstGeom>
          <a:noFill/>
        </p:spPr>
        <p:txBody>
          <a:bodyPr wrap="square" anchor="t">
            <a:spAutoFit/>
          </a:bodyPr>
          <a:lstStyle/>
          <a:p>
            <a:pPr algn="ctr">
              <a:lnSpc>
                <a:spcPct val="100000"/>
              </a:lnSpc>
            </a:pPr>
            <a:r>
              <a:rPr sz="1600" b="0" i="0">
                <a:solidFill>
                  <a:srgbClr val="66BB6A"/>
                </a:solidFill>
                <a:latin typeface="Calibri"/>
              </a:rPr>
              <a:t>Résultats, enseignements clés et recommandations — 6 mois d'activité</a:t>
            </a:r>
          </a:p>
        </p:txBody>
      </p:sp>
      <p:sp>
        <p:nvSpPr>
          <p:cNvPr id="7" name="TextBox 6"/>
          <p:cNvSpPr txBox="1"/>
          <p:nvPr/>
        </p:nvSpPr>
        <p:spPr>
          <a:xfrm>
            <a:off x="731520" y="5852160"/>
            <a:ext cx="10728655" cy="457200"/>
          </a:xfrm>
          <a:prstGeom prst="rect">
            <a:avLst/>
          </a:prstGeom>
          <a:noFill/>
        </p:spPr>
        <p:txBody>
          <a:bodyPr wrap="square" anchor="t">
            <a:spAutoFit/>
          </a:bodyPr>
          <a:lstStyle/>
          <a:p>
            <a:pPr algn="ctr">
              <a:lnSpc>
                <a:spcPct val="100000"/>
              </a:lnSpc>
            </a:pPr>
            <a:r>
              <a:rPr sz="1300" b="0" i="0">
                <a:solidFill>
                  <a:srgbClr val="FFFFFF"/>
                </a:solidFill>
                <a:latin typeface="Calibri"/>
              </a:rPr>
              <a:t>Présenté à la Direction Générale  |  Data Analyst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Sommaire</a:t>
            </a:r>
          </a:p>
        </p:txBody>
      </p:sp>
      <p:sp>
        <p:nvSpPr>
          <p:cNvPr id="5" name="TextBox 4"/>
          <p:cNvSpPr txBox="1"/>
          <p:nvPr/>
        </p:nvSpPr>
        <p:spPr>
          <a:xfrm>
            <a:off x="1097280" y="1554480"/>
            <a:ext cx="9966960" cy="4572000"/>
          </a:xfrm>
          <a:prstGeom prst="rect">
            <a:avLst/>
          </a:prstGeom>
          <a:noFill/>
        </p:spPr>
        <p:txBody>
          <a:bodyPr wrap="square">
            <a:spAutoFit/>
          </a:bodyPr>
          <a:lstStyle/>
          <a:p>
            <a:pPr>
              <a:spcAft>
                <a:spcPts val="1600"/>
              </a:spcAft>
            </a:pPr>
            <a:r>
              <a:rPr sz="2000">
                <a:solidFill>
                  <a:srgbClr val="1B241D"/>
                </a:solidFill>
                <a:latin typeface="Calibri"/>
              </a:rPr>
              <a:t>●  1.  Contexte &amp; méthodologie</a:t>
            </a:r>
          </a:p>
          <a:p>
            <a:pPr>
              <a:spcAft>
                <a:spcPts val="1600"/>
              </a:spcAft>
            </a:pPr>
            <a:r>
              <a:rPr sz="2000">
                <a:solidFill>
                  <a:srgbClr val="1B241D"/>
                </a:solidFill>
                <a:latin typeface="Calibri"/>
              </a:rPr>
              <a:t>●  2.  Performance globale</a:t>
            </a:r>
          </a:p>
          <a:p>
            <a:pPr>
              <a:spcAft>
                <a:spcPts val="1600"/>
              </a:spcAft>
            </a:pPr>
            <a:r>
              <a:rPr sz="2000">
                <a:solidFill>
                  <a:srgbClr val="1B241D"/>
                </a:solidFill>
                <a:latin typeface="Calibri"/>
              </a:rPr>
              <a:t>●  3.  Analyse par catégorie — quelle catégorie prioriser ?</a:t>
            </a:r>
          </a:p>
          <a:p>
            <a:pPr>
              <a:spcAft>
                <a:spcPts val="1600"/>
              </a:spcAft>
            </a:pPr>
            <a:r>
              <a:rPr sz="2000">
                <a:solidFill>
                  <a:srgbClr val="1B241D"/>
                </a:solidFill>
                <a:latin typeface="Calibri"/>
              </a:rPr>
              <a:t>●  4.  Analyse géographique — où investir ?</a:t>
            </a:r>
          </a:p>
          <a:p>
            <a:pPr>
              <a:spcAft>
                <a:spcPts val="1600"/>
              </a:spcAft>
            </a:pPr>
            <a:r>
              <a:rPr sz="2000">
                <a:solidFill>
                  <a:srgbClr val="1B241D"/>
                </a:solidFill>
                <a:latin typeface="Calibri"/>
              </a:rPr>
              <a:t>●  5.  Analyse marketing — quel canal renforcer ?</a:t>
            </a:r>
          </a:p>
          <a:p>
            <a:pPr>
              <a:spcAft>
                <a:spcPts val="1600"/>
              </a:spcAft>
            </a:pPr>
            <a:r>
              <a:rPr sz="2000">
                <a:solidFill>
                  <a:srgbClr val="1B241D"/>
                </a:solidFill>
                <a:latin typeface="Calibri"/>
              </a:rPr>
              <a:t>●  6.  Analyse clients — comment fidéliser ?</a:t>
            </a:r>
          </a:p>
          <a:p>
            <a:pPr>
              <a:spcAft>
                <a:spcPts val="1600"/>
              </a:spcAft>
            </a:pPr>
            <a:r>
              <a:rPr sz="2000">
                <a:solidFill>
                  <a:srgbClr val="1B241D"/>
                </a:solidFill>
                <a:latin typeface="Calibri"/>
              </a:rPr>
              <a:t>●  7.  5 recommandations stratégiques</a:t>
            </a:r>
          </a:p>
          <a:p>
            <a:pPr>
              <a:spcAft>
                <a:spcPts val="1600"/>
              </a:spcAft>
            </a:pPr>
            <a:r>
              <a:rPr sz="2000">
                <a:solidFill>
                  <a:srgbClr val="1B241D"/>
                </a:solidFill>
                <a:latin typeface="Calibri"/>
              </a:rPr>
              <a:t>●  8.  Conclusion &amp; plan d'action</a:t>
            </a:r>
          </a:p>
        </p:txBody>
      </p:sp>
      <p:sp>
        <p:nvSpPr>
          <p:cNvPr id="6" name="Rectangle 5"/>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8" name="TextBox 7"/>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Contexte &amp; méthodologie</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6 mois d'activité commerciale — 4 catégories, 8 villes</a:t>
            </a:r>
          </a:p>
        </p:txBody>
      </p:sp>
      <p:sp>
        <p:nvSpPr>
          <p:cNvPr id="6" name="TextBox 5"/>
          <p:cNvSpPr txBox="1"/>
          <p:nvPr/>
        </p:nvSpPr>
        <p:spPr>
          <a:xfrm>
            <a:off x="457200" y="1280160"/>
            <a:ext cx="11247120" cy="731520"/>
          </a:xfrm>
          <a:prstGeom prst="rect">
            <a:avLst/>
          </a:prstGeom>
          <a:noFill/>
        </p:spPr>
        <p:txBody>
          <a:bodyPr wrap="square" anchor="t">
            <a:spAutoFit/>
          </a:bodyPr>
          <a:lstStyle/>
          <a:p>
            <a:pPr algn="l">
              <a:lnSpc>
                <a:spcPct val="100000"/>
              </a:lnSpc>
            </a:pPr>
            <a:r>
              <a:rPr sz="1400" b="0" i="0">
                <a:solidFill>
                  <a:srgbClr val="1B241D"/>
                </a:solidFill>
                <a:latin typeface="Calibri"/>
              </a:rPr>
              <a:t>AfriMarket constate des variations de CA, un taux de retour préoccupant, des dépenses marketing élevées et des écarts de performance selon les villes. Cette analyse répond à 4 questions stratégiques business à partir d'un audit rigoureux des données.</a:t>
            </a:r>
          </a:p>
        </p:txBody>
      </p:sp>
      <p:sp>
        <p:nvSpPr>
          <p:cNvPr id="7" name="Rectangle 6"/>
          <p:cNvSpPr/>
          <p:nvPr/>
        </p:nvSpPr>
        <p:spPr>
          <a:xfrm>
            <a:off x="457200" y="2286000"/>
            <a:ext cx="5394960" cy="393192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68880"/>
            <a:ext cx="4937760" cy="365760"/>
          </a:xfrm>
          <a:prstGeom prst="rect">
            <a:avLst/>
          </a:prstGeom>
          <a:noFill/>
        </p:spPr>
        <p:txBody>
          <a:bodyPr wrap="square" anchor="t">
            <a:spAutoFit/>
          </a:bodyPr>
          <a:lstStyle/>
          <a:p>
            <a:pPr algn="l">
              <a:lnSpc>
                <a:spcPct val="100000"/>
              </a:lnSpc>
            </a:pPr>
            <a:r>
              <a:rPr sz="1600" b="1" i="0">
                <a:solidFill>
                  <a:srgbClr val="14532D"/>
                </a:solidFill>
                <a:latin typeface="Calibri"/>
              </a:rPr>
              <a:t>Qualité des données brutes</a:t>
            </a:r>
          </a:p>
        </p:txBody>
      </p:sp>
      <p:sp>
        <p:nvSpPr>
          <p:cNvPr id="9" name="TextBox 8"/>
          <p:cNvSpPr txBox="1"/>
          <p:nvPr/>
        </p:nvSpPr>
        <p:spPr>
          <a:xfrm>
            <a:off x="685800" y="2971800"/>
            <a:ext cx="4937760" cy="3108960"/>
          </a:xfrm>
          <a:prstGeom prst="rect">
            <a:avLst/>
          </a:prstGeom>
          <a:noFill/>
        </p:spPr>
        <p:txBody>
          <a:bodyPr wrap="square">
            <a:spAutoFit/>
          </a:bodyPr>
          <a:lstStyle/>
          <a:p>
            <a:pPr>
              <a:spcAft>
                <a:spcPts val="1000"/>
              </a:spcAft>
            </a:pPr>
            <a:r>
              <a:rPr sz="1300">
                <a:solidFill>
                  <a:srgbClr val="1B241D"/>
                </a:solidFill>
                <a:latin typeface="Calibri"/>
              </a:rPr>
              <a:t>●  10 100 commandes brutes analysées</a:t>
            </a:r>
          </a:p>
          <a:p>
            <a:pPr>
              <a:spcAft>
                <a:spcPts val="1000"/>
              </a:spcAft>
            </a:pPr>
            <a:r>
              <a:rPr sz="1300">
                <a:solidFill>
                  <a:srgbClr val="1B241D"/>
                </a:solidFill>
                <a:latin typeface="Calibri"/>
              </a:rPr>
              <a:t>●  100 doublons détectés et supprimés</a:t>
            </a:r>
          </a:p>
          <a:p>
            <a:pPr>
              <a:spcAft>
                <a:spcPts val="1000"/>
              </a:spcAft>
            </a:pPr>
            <a:r>
              <a:rPr sz="1300">
                <a:solidFill>
                  <a:srgbClr val="1B241D"/>
                </a:solidFill>
                <a:latin typeface="Calibri"/>
              </a:rPr>
              <a:t>●  614 remises négatives corrigées</a:t>
            </a:r>
          </a:p>
          <a:p>
            <a:pPr>
              <a:spcAft>
                <a:spcPts val="1000"/>
              </a:spcAft>
            </a:pPr>
            <a:r>
              <a:rPr sz="1300">
                <a:solidFill>
                  <a:srgbClr val="1B241D"/>
                </a:solidFill>
                <a:latin typeface="Calibri"/>
              </a:rPr>
              <a:t>●  632 prix négatifs / 799 valeurs extrêmes traités</a:t>
            </a:r>
          </a:p>
          <a:p>
            <a:pPr>
              <a:spcAft>
                <a:spcPts val="1000"/>
              </a:spcAft>
            </a:pPr>
            <a:r>
              <a:rPr sz="1300">
                <a:solidFill>
                  <a:srgbClr val="1B241D"/>
                </a:solidFill>
                <a:latin typeface="Calibri"/>
              </a:rPr>
              <a:t>●  608 quantités nulles supprimées</a:t>
            </a:r>
          </a:p>
          <a:p>
            <a:pPr>
              <a:spcAft>
                <a:spcPts val="1000"/>
              </a:spcAft>
            </a:pPr>
            <a:r>
              <a:rPr sz="1300">
                <a:solidFill>
                  <a:srgbClr val="1B241D"/>
                </a:solidFill>
                <a:latin typeface="Calibri"/>
              </a:rPr>
              <a:t>●  Villes, catégories et statuts uniformisés</a:t>
            </a:r>
          </a:p>
        </p:txBody>
      </p:sp>
      <p:sp>
        <p:nvSpPr>
          <p:cNvPr id="10" name="Rectangle 9"/>
          <p:cNvSpPr/>
          <p:nvPr/>
        </p:nvSpPr>
        <p:spPr>
          <a:xfrm>
            <a:off x="6309360" y="2286000"/>
            <a:ext cx="5394960" cy="393192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468880"/>
            <a:ext cx="4937760" cy="365760"/>
          </a:xfrm>
          <a:prstGeom prst="rect">
            <a:avLst/>
          </a:prstGeom>
          <a:noFill/>
        </p:spPr>
        <p:txBody>
          <a:bodyPr wrap="square" anchor="t">
            <a:spAutoFit/>
          </a:bodyPr>
          <a:lstStyle/>
          <a:p>
            <a:pPr algn="l">
              <a:lnSpc>
                <a:spcPct val="100000"/>
              </a:lnSpc>
            </a:pPr>
            <a:r>
              <a:rPr sz="1600" b="1" i="0">
                <a:solidFill>
                  <a:srgbClr val="14532D"/>
                </a:solidFill>
                <a:latin typeface="Calibri"/>
              </a:rPr>
              <a:t>Dataset final exploitable</a:t>
            </a:r>
          </a:p>
        </p:txBody>
      </p:sp>
      <p:sp>
        <p:nvSpPr>
          <p:cNvPr id="12" name="TextBox 11"/>
          <p:cNvSpPr txBox="1"/>
          <p:nvPr/>
        </p:nvSpPr>
        <p:spPr>
          <a:xfrm>
            <a:off x="6537960" y="2971800"/>
            <a:ext cx="4937760" cy="3108960"/>
          </a:xfrm>
          <a:prstGeom prst="rect">
            <a:avLst/>
          </a:prstGeom>
          <a:noFill/>
        </p:spPr>
        <p:txBody>
          <a:bodyPr wrap="square">
            <a:spAutoFit/>
          </a:bodyPr>
          <a:lstStyle/>
          <a:p>
            <a:pPr>
              <a:spcAft>
                <a:spcPts val="1000"/>
              </a:spcAft>
            </a:pPr>
            <a:r>
              <a:rPr sz="1300">
                <a:solidFill>
                  <a:srgbClr val="1B241D"/>
                </a:solidFill>
                <a:latin typeface="Calibri"/>
              </a:rPr>
              <a:t>●  9 400 commandes valides (df_clean)</a:t>
            </a:r>
          </a:p>
          <a:p>
            <a:pPr>
              <a:spcAft>
                <a:spcPts val="1000"/>
              </a:spcAft>
            </a:pPr>
            <a:r>
              <a:rPr sz="1300">
                <a:solidFill>
                  <a:srgbClr val="1B241D"/>
                </a:solidFill>
                <a:latin typeface="Calibri"/>
              </a:rPr>
              <a:t>●  1 734 clients uniques</a:t>
            </a:r>
          </a:p>
          <a:p>
            <a:pPr>
              <a:spcAft>
                <a:spcPts val="1000"/>
              </a:spcAft>
            </a:pPr>
            <a:r>
              <a:rPr sz="1300">
                <a:solidFill>
                  <a:srgbClr val="1B241D"/>
                </a:solidFill>
                <a:latin typeface="Calibri"/>
              </a:rPr>
              <a:t>●  Hypothèse retenue : marge brute = 35% du CA (à défaut de coût matière communiqué)</a:t>
            </a:r>
          </a:p>
          <a:p>
            <a:pPr>
              <a:spcAft>
                <a:spcPts val="1000"/>
              </a:spcAft>
            </a:pPr>
            <a:r>
              <a:rPr sz="1300">
                <a:solidFill>
                  <a:srgbClr val="1B241D"/>
                </a:solidFill>
                <a:latin typeface="Calibri"/>
              </a:rPr>
              <a:t>●  Indicateurs recalculés : CA, marge, profit net, taux de retour, CLV</a:t>
            </a:r>
          </a:p>
        </p:txBody>
      </p:sp>
      <p:sp>
        <p:nvSpPr>
          <p:cNvPr id="13" name="Rectangle 12"/>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5" name="TextBox 14"/>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Performance globale</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Vue d'ensemble sur 6 mois</a:t>
            </a:r>
          </a:p>
        </p:txBody>
      </p:sp>
      <p:sp>
        <p:nvSpPr>
          <p:cNvPr id="6" name="Rectangle 5"/>
          <p:cNvSpPr/>
          <p:nvPr/>
        </p:nvSpPr>
        <p:spPr>
          <a:xfrm>
            <a:off x="457200" y="2011680"/>
            <a:ext cx="2148840" cy="2194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2148840" cy="1005840"/>
          </a:xfrm>
          <a:prstGeom prst="rect">
            <a:avLst/>
          </a:prstGeom>
          <a:noFill/>
        </p:spPr>
        <p:txBody>
          <a:bodyPr wrap="square" anchor="t">
            <a:spAutoFit/>
          </a:bodyPr>
          <a:lstStyle/>
          <a:p>
            <a:pPr algn="ctr">
              <a:lnSpc>
                <a:spcPct val="100000"/>
              </a:lnSpc>
            </a:pPr>
            <a:r>
              <a:rPr sz="2600" b="1" i="0">
                <a:solidFill>
                  <a:srgbClr val="FFFFFF"/>
                </a:solidFill>
                <a:latin typeface="Calibri"/>
              </a:rPr>
              <a:t>2.51 M$</a:t>
            </a:r>
          </a:p>
        </p:txBody>
      </p:sp>
      <p:sp>
        <p:nvSpPr>
          <p:cNvPr id="8" name="TextBox 7"/>
          <p:cNvSpPr txBox="1"/>
          <p:nvPr/>
        </p:nvSpPr>
        <p:spPr>
          <a:xfrm>
            <a:off x="548640" y="3291840"/>
            <a:ext cx="1965960" cy="822960"/>
          </a:xfrm>
          <a:prstGeom prst="rect">
            <a:avLst/>
          </a:prstGeom>
          <a:noFill/>
        </p:spPr>
        <p:txBody>
          <a:bodyPr wrap="square" anchor="t">
            <a:spAutoFit/>
          </a:bodyPr>
          <a:lstStyle/>
          <a:p>
            <a:pPr algn="ctr">
              <a:lnSpc>
                <a:spcPct val="100000"/>
              </a:lnSpc>
            </a:pPr>
            <a:r>
              <a:rPr sz="1300" b="0" i="0">
                <a:solidFill>
                  <a:srgbClr val="FFFFFF"/>
                </a:solidFill>
                <a:latin typeface="Calibri"/>
              </a:rPr>
              <a:t>CA total</a:t>
            </a:r>
          </a:p>
        </p:txBody>
      </p:sp>
      <p:sp>
        <p:nvSpPr>
          <p:cNvPr id="9" name="Rectangle 8"/>
          <p:cNvSpPr/>
          <p:nvPr/>
        </p:nvSpPr>
        <p:spPr>
          <a:xfrm>
            <a:off x="2834640" y="2011680"/>
            <a:ext cx="2148840" cy="21945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2240280"/>
            <a:ext cx="2148840" cy="1005840"/>
          </a:xfrm>
          <a:prstGeom prst="rect">
            <a:avLst/>
          </a:prstGeom>
          <a:noFill/>
        </p:spPr>
        <p:txBody>
          <a:bodyPr wrap="square" anchor="t">
            <a:spAutoFit/>
          </a:bodyPr>
          <a:lstStyle/>
          <a:p>
            <a:pPr algn="ctr">
              <a:lnSpc>
                <a:spcPct val="100000"/>
              </a:lnSpc>
            </a:pPr>
            <a:r>
              <a:rPr sz="2600" b="1" i="0">
                <a:solidFill>
                  <a:srgbClr val="FFFFFF"/>
                </a:solidFill>
                <a:latin typeface="Calibri"/>
              </a:rPr>
              <a:t>754 k$</a:t>
            </a:r>
          </a:p>
        </p:txBody>
      </p:sp>
      <p:sp>
        <p:nvSpPr>
          <p:cNvPr id="11" name="TextBox 10"/>
          <p:cNvSpPr txBox="1"/>
          <p:nvPr/>
        </p:nvSpPr>
        <p:spPr>
          <a:xfrm>
            <a:off x="2926080" y="3291840"/>
            <a:ext cx="1965960" cy="822960"/>
          </a:xfrm>
          <a:prstGeom prst="rect">
            <a:avLst/>
          </a:prstGeom>
          <a:noFill/>
        </p:spPr>
        <p:txBody>
          <a:bodyPr wrap="square" anchor="t">
            <a:spAutoFit/>
          </a:bodyPr>
          <a:lstStyle/>
          <a:p>
            <a:pPr algn="ctr">
              <a:lnSpc>
                <a:spcPct val="100000"/>
              </a:lnSpc>
            </a:pPr>
            <a:r>
              <a:rPr sz="1300" b="0" i="0">
                <a:solidFill>
                  <a:srgbClr val="FFFFFF"/>
                </a:solidFill>
                <a:latin typeface="Calibri"/>
              </a:rPr>
              <a:t>Profit net estimé</a:t>
            </a:r>
          </a:p>
        </p:txBody>
      </p:sp>
      <p:sp>
        <p:nvSpPr>
          <p:cNvPr id="12" name="Rectangle 11"/>
          <p:cNvSpPr/>
          <p:nvPr/>
        </p:nvSpPr>
        <p:spPr>
          <a:xfrm>
            <a:off x="5212080" y="2011680"/>
            <a:ext cx="2148840" cy="21945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240280"/>
            <a:ext cx="2148840" cy="1005840"/>
          </a:xfrm>
          <a:prstGeom prst="rect">
            <a:avLst/>
          </a:prstGeom>
          <a:noFill/>
        </p:spPr>
        <p:txBody>
          <a:bodyPr wrap="square" anchor="t">
            <a:spAutoFit/>
          </a:bodyPr>
          <a:lstStyle/>
          <a:p>
            <a:pPr algn="ctr">
              <a:lnSpc>
                <a:spcPct val="100000"/>
              </a:lnSpc>
            </a:pPr>
            <a:r>
              <a:rPr sz="2600" b="1" i="0">
                <a:solidFill>
                  <a:srgbClr val="FFFFFF"/>
                </a:solidFill>
                <a:latin typeface="Calibri"/>
              </a:rPr>
              <a:t>272 $</a:t>
            </a:r>
          </a:p>
        </p:txBody>
      </p:sp>
      <p:sp>
        <p:nvSpPr>
          <p:cNvPr id="14" name="TextBox 13"/>
          <p:cNvSpPr txBox="1"/>
          <p:nvPr/>
        </p:nvSpPr>
        <p:spPr>
          <a:xfrm>
            <a:off x="5303520" y="3291840"/>
            <a:ext cx="1965960" cy="822960"/>
          </a:xfrm>
          <a:prstGeom prst="rect">
            <a:avLst/>
          </a:prstGeom>
          <a:noFill/>
        </p:spPr>
        <p:txBody>
          <a:bodyPr wrap="square" anchor="t">
            <a:spAutoFit/>
          </a:bodyPr>
          <a:lstStyle/>
          <a:p>
            <a:pPr algn="ctr">
              <a:lnSpc>
                <a:spcPct val="100000"/>
              </a:lnSpc>
            </a:pPr>
            <a:r>
              <a:rPr sz="1300" b="0" i="0">
                <a:solidFill>
                  <a:srgbClr val="FFFFFF"/>
                </a:solidFill>
                <a:latin typeface="Calibri"/>
              </a:rPr>
              <a:t>Panier moyen</a:t>
            </a:r>
          </a:p>
        </p:txBody>
      </p:sp>
      <p:sp>
        <p:nvSpPr>
          <p:cNvPr id="15" name="Rectangle 14"/>
          <p:cNvSpPr/>
          <p:nvPr/>
        </p:nvSpPr>
        <p:spPr>
          <a:xfrm>
            <a:off x="7589520" y="2011680"/>
            <a:ext cx="2148840" cy="21945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2240280"/>
            <a:ext cx="2148840" cy="1005840"/>
          </a:xfrm>
          <a:prstGeom prst="rect">
            <a:avLst/>
          </a:prstGeom>
          <a:noFill/>
        </p:spPr>
        <p:txBody>
          <a:bodyPr wrap="square" anchor="t">
            <a:spAutoFit/>
          </a:bodyPr>
          <a:lstStyle/>
          <a:p>
            <a:pPr algn="ctr">
              <a:lnSpc>
                <a:spcPct val="100000"/>
              </a:lnSpc>
            </a:pPr>
            <a:r>
              <a:rPr sz="2600" b="1" i="0">
                <a:solidFill>
                  <a:srgbClr val="FFFFFF"/>
                </a:solidFill>
                <a:latin typeface="Calibri"/>
              </a:rPr>
              <a:t>1.9 %</a:t>
            </a:r>
          </a:p>
        </p:txBody>
      </p:sp>
      <p:sp>
        <p:nvSpPr>
          <p:cNvPr id="17" name="TextBox 16"/>
          <p:cNvSpPr txBox="1"/>
          <p:nvPr/>
        </p:nvSpPr>
        <p:spPr>
          <a:xfrm>
            <a:off x="7680960" y="3291840"/>
            <a:ext cx="1965960" cy="822960"/>
          </a:xfrm>
          <a:prstGeom prst="rect">
            <a:avLst/>
          </a:prstGeom>
          <a:noFill/>
        </p:spPr>
        <p:txBody>
          <a:bodyPr wrap="square" anchor="t">
            <a:spAutoFit/>
          </a:bodyPr>
          <a:lstStyle/>
          <a:p>
            <a:pPr algn="ctr">
              <a:lnSpc>
                <a:spcPct val="100000"/>
              </a:lnSpc>
            </a:pPr>
            <a:r>
              <a:rPr sz="1300" b="0" i="0">
                <a:solidFill>
                  <a:srgbClr val="FFFFFF"/>
                </a:solidFill>
                <a:latin typeface="Calibri"/>
              </a:rPr>
              <a:t>Taux d'annulation</a:t>
            </a:r>
          </a:p>
        </p:txBody>
      </p:sp>
      <p:sp>
        <p:nvSpPr>
          <p:cNvPr id="18" name="Rectangle 17"/>
          <p:cNvSpPr/>
          <p:nvPr/>
        </p:nvSpPr>
        <p:spPr>
          <a:xfrm>
            <a:off x="9966960" y="2011680"/>
            <a:ext cx="2148840" cy="21945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66960" y="2240280"/>
            <a:ext cx="2148840" cy="1005840"/>
          </a:xfrm>
          <a:prstGeom prst="rect">
            <a:avLst/>
          </a:prstGeom>
          <a:noFill/>
        </p:spPr>
        <p:txBody>
          <a:bodyPr wrap="square" anchor="t">
            <a:spAutoFit/>
          </a:bodyPr>
          <a:lstStyle/>
          <a:p>
            <a:pPr algn="ctr">
              <a:lnSpc>
                <a:spcPct val="100000"/>
              </a:lnSpc>
            </a:pPr>
            <a:r>
              <a:rPr sz="2600" b="1" i="0">
                <a:solidFill>
                  <a:srgbClr val="FFFFFF"/>
                </a:solidFill>
                <a:latin typeface="Calibri"/>
              </a:rPr>
              <a:t>8.3 %</a:t>
            </a:r>
          </a:p>
        </p:txBody>
      </p:sp>
      <p:sp>
        <p:nvSpPr>
          <p:cNvPr id="20" name="TextBox 19"/>
          <p:cNvSpPr txBox="1"/>
          <p:nvPr/>
        </p:nvSpPr>
        <p:spPr>
          <a:xfrm>
            <a:off x="10058400" y="3291840"/>
            <a:ext cx="1965960" cy="822960"/>
          </a:xfrm>
          <a:prstGeom prst="rect">
            <a:avLst/>
          </a:prstGeom>
          <a:noFill/>
        </p:spPr>
        <p:txBody>
          <a:bodyPr wrap="square" anchor="t">
            <a:spAutoFit/>
          </a:bodyPr>
          <a:lstStyle/>
          <a:p>
            <a:pPr algn="ctr">
              <a:lnSpc>
                <a:spcPct val="100000"/>
              </a:lnSpc>
            </a:pPr>
            <a:r>
              <a:rPr sz="1300" b="0" i="0">
                <a:solidFill>
                  <a:srgbClr val="FFFFFF"/>
                </a:solidFill>
                <a:latin typeface="Calibri"/>
              </a:rPr>
              <a:t>Taux de retour</a:t>
            </a:r>
          </a:p>
        </p:txBody>
      </p:sp>
      <p:sp>
        <p:nvSpPr>
          <p:cNvPr id="21" name="TextBox 20"/>
          <p:cNvSpPr txBox="1"/>
          <p:nvPr/>
        </p:nvSpPr>
        <p:spPr>
          <a:xfrm>
            <a:off x="457200" y="4663440"/>
            <a:ext cx="11247120" cy="1463040"/>
          </a:xfrm>
          <a:prstGeom prst="rect">
            <a:avLst/>
          </a:prstGeom>
          <a:noFill/>
        </p:spPr>
        <p:txBody>
          <a:bodyPr wrap="square" anchor="t">
            <a:spAutoFit/>
          </a:bodyPr>
          <a:lstStyle/>
          <a:p>
            <a:pPr algn="l">
              <a:lnSpc>
                <a:spcPct val="100000"/>
              </a:lnSpc>
            </a:pPr>
            <a:r>
              <a:rPr sz="1400" b="0" i="0">
                <a:solidFill>
                  <a:srgbClr val="1B241D"/>
                </a:solidFill>
                <a:latin typeface="Calibri"/>
              </a:rPr>
              <a:t>Sur 6 mois, AfriMarket génère 2,51 M$ de chiffre d'affaires pour un profit net estimé de 754 k$ (≈30% de marge nette). Le taux d'annulation reste faible (1,9%), mais le taux de retour (8,3%) constitue un point de vigilance direct sur la rentabilité.</a:t>
            </a:r>
          </a:p>
        </p:txBody>
      </p:sp>
      <p:sp>
        <p:nvSpPr>
          <p:cNvPr id="22" name="Rectangle 21"/>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24" name="TextBox 23"/>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par catégorie</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Question stratégique : quelle catégorie prioriser ou optimiser ?</a:t>
            </a:r>
          </a:p>
        </p:txBody>
      </p:sp>
      <p:pic>
        <p:nvPicPr>
          <p:cNvPr id="6" name="Picture 5" descr="ca_par_categorie.png"/>
          <p:cNvPicPr>
            <a:picLocks noChangeAspect="1"/>
          </p:cNvPicPr>
          <p:nvPr/>
        </p:nvPicPr>
        <p:blipFill>
          <a:blip r:embed="rId2"/>
          <a:stretch>
            <a:fillRect/>
          </a:stretch>
        </p:blipFill>
        <p:spPr>
          <a:xfrm>
            <a:off x="365760" y="1755648"/>
            <a:ext cx="6949440" cy="4169664"/>
          </a:xfrm>
          <a:prstGeom prst="rect">
            <a:avLst/>
          </a:prstGeom>
        </p:spPr>
      </p:pic>
      <p:sp>
        <p:nvSpPr>
          <p:cNvPr id="7" name="Rectangle 6"/>
          <p:cNvSpPr/>
          <p:nvPr/>
        </p:nvSpPr>
        <p:spPr>
          <a:xfrm>
            <a:off x="7589520" y="1280160"/>
            <a:ext cx="42364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463040"/>
            <a:ext cx="3779215" cy="457200"/>
          </a:xfrm>
          <a:prstGeom prst="rect">
            <a:avLst/>
          </a:prstGeom>
          <a:noFill/>
        </p:spPr>
        <p:txBody>
          <a:bodyPr wrap="square" anchor="t">
            <a:spAutoFit/>
          </a:bodyPr>
          <a:lstStyle/>
          <a:p>
            <a:pPr algn="l">
              <a:lnSpc>
                <a:spcPct val="100000"/>
              </a:lnSpc>
            </a:pPr>
            <a:r>
              <a:rPr sz="1500" b="1" i="0">
                <a:solidFill>
                  <a:srgbClr val="14532D"/>
                </a:solidFill>
                <a:latin typeface="Calibri"/>
              </a:rPr>
              <a:t>Constat</a:t>
            </a:r>
          </a:p>
        </p:txBody>
      </p:sp>
      <p:sp>
        <p:nvSpPr>
          <p:cNvPr id="9" name="TextBox 8"/>
          <p:cNvSpPr txBox="1"/>
          <p:nvPr/>
        </p:nvSpPr>
        <p:spPr>
          <a:xfrm>
            <a:off x="7818120" y="1965960"/>
            <a:ext cx="3779215" cy="4206240"/>
          </a:xfrm>
          <a:prstGeom prst="rect">
            <a:avLst/>
          </a:prstGeom>
          <a:noFill/>
        </p:spPr>
        <p:txBody>
          <a:bodyPr wrap="square" anchor="t">
            <a:spAutoFit/>
          </a:bodyPr>
          <a:lstStyle/>
          <a:p>
            <a:pPr algn="l">
              <a:lnSpc>
                <a:spcPct val="115000"/>
              </a:lnSpc>
            </a:pPr>
            <a:r>
              <a:rPr sz="1300" b="0" i="0">
                <a:solidFill>
                  <a:srgbClr val="1B241D"/>
                </a:solidFill>
                <a:latin typeface="Calibri"/>
              </a:rPr>
              <a:t>L'Électronique porte 74,6% du CA (1,87 M$) et 82% du profit net.</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Mode et Beauté ont un profit quasi nul : les coûts logistiques et marketing absorbent 57% et 88% de leur marge brute (contre 6% pour l'Électronique).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Recommandation : prioriser l'Électronique, optimiser Mode/Beauté par le panier moyen plutôt que par le volume.</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par catégorie</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Le revers de la médaille : le taux de retour</a:t>
            </a:r>
          </a:p>
        </p:txBody>
      </p:sp>
      <p:pic>
        <p:nvPicPr>
          <p:cNvPr id="6" name="Picture 5" descr="taux_retour_categorie.png"/>
          <p:cNvPicPr>
            <a:picLocks noChangeAspect="1"/>
          </p:cNvPicPr>
          <p:nvPr/>
        </p:nvPicPr>
        <p:blipFill>
          <a:blip r:embed="rId2"/>
          <a:stretch>
            <a:fillRect/>
          </a:stretch>
        </p:blipFill>
        <p:spPr>
          <a:xfrm>
            <a:off x="365760" y="1755648"/>
            <a:ext cx="6949440" cy="4169664"/>
          </a:xfrm>
          <a:prstGeom prst="rect">
            <a:avLst/>
          </a:prstGeom>
        </p:spPr>
      </p:pic>
      <p:sp>
        <p:nvSpPr>
          <p:cNvPr id="7" name="Rectangle 6"/>
          <p:cNvSpPr/>
          <p:nvPr/>
        </p:nvSpPr>
        <p:spPr>
          <a:xfrm>
            <a:off x="7589520" y="1280160"/>
            <a:ext cx="42364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463040"/>
            <a:ext cx="3779215" cy="457200"/>
          </a:xfrm>
          <a:prstGeom prst="rect">
            <a:avLst/>
          </a:prstGeom>
          <a:noFill/>
        </p:spPr>
        <p:txBody>
          <a:bodyPr wrap="square" anchor="t">
            <a:spAutoFit/>
          </a:bodyPr>
          <a:lstStyle/>
          <a:p>
            <a:pPr algn="l">
              <a:lnSpc>
                <a:spcPct val="100000"/>
              </a:lnSpc>
            </a:pPr>
            <a:r>
              <a:rPr sz="1500" b="1" i="0">
                <a:solidFill>
                  <a:srgbClr val="14532D"/>
                </a:solidFill>
                <a:latin typeface="Calibri"/>
              </a:rPr>
              <a:t>Point de vigilance</a:t>
            </a:r>
          </a:p>
        </p:txBody>
      </p:sp>
      <p:sp>
        <p:nvSpPr>
          <p:cNvPr id="9" name="TextBox 8"/>
          <p:cNvSpPr txBox="1"/>
          <p:nvPr/>
        </p:nvSpPr>
        <p:spPr>
          <a:xfrm>
            <a:off x="7818120" y="1965960"/>
            <a:ext cx="3779215" cy="4206240"/>
          </a:xfrm>
          <a:prstGeom prst="rect">
            <a:avLst/>
          </a:prstGeom>
          <a:noFill/>
        </p:spPr>
        <p:txBody>
          <a:bodyPr wrap="square" anchor="t">
            <a:spAutoFit/>
          </a:bodyPr>
          <a:lstStyle/>
          <a:p>
            <a:pPr algn="l">
              <a:lnSpc>
                <a:spcPct val="115000"/>
              </a:lnSpc>
            </a:pPr>
            <a:r>
              <a:rPr sz="1300" b="0" i="0">
                <a:solidFill>
                  <a:srgbClr val="1B241D"/>
                </a:solidFill>
                <a:latin typeface="Calibri"/>
              </a:rPr>
              <a:t>Le taux de retour de l'Électronique atteint 14,1%, près de 2× la moyenne globale (8,3%).</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Chaque point de retour gagné se traduit directement en profit préservé sur la catégorie la plus rentable.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Actions : fiches produits plus précises, contrôle qualité fournisseurs, politique de retour resserrée sur les motifs évitables.</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géographique</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Question stratégique : où devons-nous investir davantage ?</a:t>
            </a:r>
          </a:p>
        </p:txBody>
      </p:sp>
      <p:pic>
        <p:nvPicPr>
          <p:cNvPr id="6" name="Picture 5" descr="ca_par_ville.png"/>
          <p:cNvPicPr>
            <a:picLocks noChangeAspect="1"/>
          </p:cNvPicPr>
          <p:nvPr/>
        </p:nvPicPr>
        <p:blipFill>
          <a:blip r:embed="rId2"/>
          <a:stretch>
            <a:fillRect/>
          </a:stretch>
        </p:blipFill>
        <p:spPr>
          <a:xfrm>
            <a:off x="365760" y="1755648"/>
            <a:ext cx="6949440" cy="4169664"/>
          </a:xfrm>
          <a:prstGeom prst="rect">
            <a:avLst/>
          </a:prstGeom>
        </p:spPr>
      </p:pic>
      <p:sp>
        <p:nvSpPr>
          <p:cNvPr id="7" name="Rectangle 6"/>
          <p:cNvSpPr/>
          <p:nvPr/>
        </p:nvSpPr>
        <p:spPr>
          <a:xfrm>
            <a:off x="7589520" y="1280160"/>
            <a:ext cx="42364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463040"/>
            <a:ext cx="3779215" cy="457200"/>
          </a:xfrm>
          <a:prstGeom prst="rect">
            <a:avLst/>
          </a:prstGeom>
          <a:noFill/>
        </p:spPr>
        <p:txBody>
          <a:bodyPr wrap="square" anchor="t">
            <a:spAutoFit/>
          </a:bodyPr>
          <a:lstStyle/>
          <a:p>
            <a:pPr algn="l">
              <a:lnSpc>
                <a:spcPct val="100000"/>
              </a:lnSpc>
            </a:pPr>
            <a:r>
              <a:rPr sz="1500" b="1" i="0">
                <a:solidFill>
                  <a:srgbClr val="14532D"/>
                </a:solidFill>
                <a:latin typeface="Calibri"/>
              </a:rPr>
              <a:t>Constat</a:t>
            </a:r>
          </a:p>
        </p:txBody>
      </p:sp>
      <p:sp>
        <p:nvSpPr>
          <p:cNvPr id="9" name="TextBox 8"/>
          <p:cNvSpPr txBox="1"/>
          <p:nvPr/>
        </p:nvSpPr>
        <p:spPr>
          <a:xfrm>
            <a:off x="7818120" y="1965960"/>
            <a:ext cx="3779215" cy="4206240"/>
          </a:xfrm>
          <a:prstGeom prst="rect">
            <a:avLst/>
          </a:prstGeom>
          <a:noFill/>
        </p:spPr>
        <p:txBody>
          <a:bodyPr wrap="square" anchor="t">
            <a:spAutoFit/>
          </a:bodyPr>
          <a:lstStyle/>
          <a:p>
            <a:pPr algn="l">
              <a:lnSpc>
                <a:spcPct val="115000"/>
              </a:lnSpc>
            </a:pPr>
            <a:r>
              <a:rPr sz="1300" b="0" i="0">
                <a:solidFill>
                  <a:srgbClr val="1B241D"/>
                </a:solidFill>
                <a:latin typeface="Calibri"/>
              </a:rPr>
              <a:t>Kinshasa est le marché le plus performant (752 k$ de CA, 227 k$ de profit) avec un taux d'annulation quasi nul (0,26%).</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Abidjan et Dakar combinent bon CA et annulation quasi nulle : marchés secondaires à consolider.</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Recommandation : renforcer l'investissement à Kinshasa, consolider Abidjan et Dakar.</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géographique</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Une anomalie opérationnelle à traiter en priorité</a:t>
            </a:r>
          </a:p>
        </p:txBody>
      </p:sp>
      <p:pic>
        <p:nvPicPr>
          <p:cNvPr id="6" name="Picture 5" descr="taux_annulation_ville.png"/>
          <p:cNvPicPr>
            <a:picLocks noChangeAspect="1"/>
          </p:cNvPicPr>
          <p:nvPr/>
        </p:nvPicPr>
        <p:blipFill>
          <a:blip r:embed="rId2"/>
          <a:stretch>
            <a:fillRect/>
          </a:stretch>
        </p:blipFill>
        <p:spPr>
          <a:xfrm>
            <a:off x="365760" y="1755648"/>
            <a:ext cx="6949440" cy="4169664"/>
          </a:xfrm>
          <a:prstGeom prst="rect">
            <a:avLst/>
          </a:prstGeom>
        </p:spPr>
      </p:pic>
      <p:sp>
        <p:nvSpPr>
          <p:cNvPr id="7" name="Rectangle 6"/>
          <p:cNvSpPr/>
          <p:nvPr/>
        </p:nvSpPr>
        <p:spPr>
          <a:xfrm>
            <a:off x="7589520" y="1280160"/>
            <a:ext cx="42364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463040"/>
            <a:ext cx="3779215" cy="457200"/>
          </a:xfrm>
          <a:prstGeom prst="rect">
            <a:avLst/>
          </a:prstGeom>
          <a:noFill/>
        </p:spPr>
        <p:txBody>
          <a:bodyPr wrap="square" anchor="t">
            <a:spAutoFit/>
          </a:bodyPr>
          <a:lstStyle/>
          <a:p>
            <a:pPr algn="l">
              <a:lnSpc>
                <a:spcPct val="100000"/>
              </a:lnSpc>
            </a:pPr>
            <a:r>
              <a:rPr sz="1500" b="1" i="0">
                <a:solidFill>
                  <a:srgbClr val="14532D"/>
                </a:solidFill>
                <a:latin typeface="Calibri"/>
              </a:rPr>
              <a:t>Alerte</a:t>
            </a:r>
          </a:p>
        </p:txBody>
      </p:sp>
      <p:sp>
        <p:nvSpPr>
          <p:cNvPr id="9" name="TextBox 8"/>
          <p:cNvSpPr txBox="1"/>
          <p:nvPr/>
        </p:nvSpPr>
        <p:spPr>
          <a:xfrm>
            <a:off x="7818120" y="1965960"/>
            <a:ext cx="3779215" cy="4206240"/>
          </a:xfrm>
          <a:prstGeom prst="rect">
            <a:avLst/>
          </a:prstGeom>
          <a:noFill/>
        </p:spPr>
        <p:txBody>
          <a:bodyPr wrap="square" anchor="t">
            <a:spAutoFit/>
          </a:bodyPr>
          <a:lstStyle/>
          <a:p>
            <a:pPr algn="l">
              <a:lnSpc>
                <a:spcPct val="115000"/>
              </a:lnSpc>
            </a:pPr>
            <a:r>
              <a:rPr sz="1300" b="0" i="0">
                <a:solidFill>
                  <a:srgbClr val="1B241D"/>
                </a:solidFill>
                <a:latin typeface="Calibri"/>
              </a:rPr>
              <a:t>Douala affiche un taux d'annulation de 12,9%, contre moins de 1% dans toutes les autres villes — une anomalie opérationnelle majeure.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Causes probables à auditer : méthode de paiement locale, rupture de stock, fiabilité du livreur partenaire.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Recommandation : auditer la cause racine avant tout investissement marketing supplémentaire sur cette ville.</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marketing</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Question stratégique : quel canal mérite plus de budget ?</a:t>
            </a:r>
          </a:p>
        </p:txBody>
      </p:sp>
      <p:pic>
        <p:nvPicPr>
          <p:cNvPr id="6" name="Picture 5" descr="roi_par_canal.png"/>
          <p:cNvPicPr>
            <a:picLocks noChangeAspect="1"/>
          </p:cNvPicPr>
          <p:nvPr/>
        </p:nvPicPr>
        <p:blipFill>
          <a:blip r:embed="rId2"/>
          <a:stretch>
            <a:fillRect/>
          </a:stretch>
        </p:blipFill>
        <p:spPr>
          <a:xfrm>
            <a:off x="365760" y="1755648"/>
            <a:ext cx="6949440" cy="4169664"/>
          </a:xfrm>
          <a:prstGeom prst="rect">
            <a:avLst/>
          </a:prstGeom>
        </p:spPr>
      </p:pic>
      <p:sp>
        <p:nvSpPr>
          <p:cNvPr id="7" name="Rectangle 6"/>
          <p:cNvSpPr/>
          <p:nvPr/>
        </p:nvSpPr>
        <p:spPr>
          <a:xfrm>
            <a:off x="7589520" y="1280160"/>
            <a:ext cx="42364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463040"/>
            <a:ext cx="3779215" cy="457200"/>
          </a:xfrm>
          <a:prstGeom prst="rect">
            <a:avLst/>
          </a:prstGeom>
          <a:noFill/>
        </p:spPr>
        <p:txBody>
          <a:bodyPr wrap="square" anchor="t">
            <a:spAutoFit/>
          </a:bodyPr>
          <a:lstStyle/>
          <a:p>
            <a:pPr algn="l">
              <a:lnSpc>
                <a:spcPct val="100000"/>
              </a:lnSpc>
            </a:pPr>
            <a:r>
              <a:rPr sz="1500" b="1" i="0">
                <a:solidFill>
                  <a:srgbClr val="14532D"/>
                </a:solidFill>
                <a:latin typeface="Calibri"/>
              </a:rPr>
              <a:t>ROI = (Revenus − Coût marketing) / Coût marketing</a:t>
            </a:r>
          </a:p>
        </p:txBody>
      </p:sp>
      <p:sp>
        <p:nvSpPr>
          <p:cNvPr id="9" name="TextBox 8"/>
          <p:cNvSpPr txBox="1"/>
          <p:nvPr/>
        </p:nvSpPr>
        <p:spPr>
          <a:xfrm>
            <a:off x="7818120" y="1965960"/>
            <a:ext cx="3779215" cy="4206240"/>
          </a:xfrm>
          <a:prstGeom prst="rect">
            <a:avLst/>
          </a:prstGeom>
          <a:noFill/>
        </p:spPr>
        <p:txBody>
          <a:bodyPr wrap="square" anchor="t">
            <a:spAutoFit/>
          </a:bodyPr>
          <a:lstStyle/>
          <a:p>
            <a:pPr algn="l">
              <a:lnSpc>
                <a:spcPct val="115000"/>
              </a:lnSpc>
            </a:pPr>
            <a:r>
              <a:rPr sz="1300" b="0" i="0">
                <a:solidFill>
                  <a:srgbClr val="1B241D"/>
                </a:solidFill>
                <a:latin typeface="Calibri"/>
              </a:rPr>
              <a:t>Email affiche le meilleur ROI (230) pour le plus petit budget (2 297 $) : canal nettement sous-financé.</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Google Ads (ROI 50) reste solide et scalable.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Influenceur cumule le pire ROI (21,5) pour un budget de 16 k$.</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Recommandation : augmenter Email et Google Ads, réduire Influenceur.</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marketing</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La rétention client par canal, en complément du ROI</a:t>
            </a:r>
          </a:p>
        </p:txBody>
      </p:sp>
      <p:pic>
        <p:nvPicPr>
          <p:cNvPr id="6" name="Picture 5" descr="retention_par_canal.png"/>
          <p:cNvPicPr>
            <a:picLocks noChangeAspect="1"/>
          </p:cNvPicPr>
          <p:nvPr/>
        </p:nvPicPr>
        <p:blipFill>
          <a:blip r:embed="rId2"/>
          <a:stretch>
            <a:fillRect/>
          </a:stretch>
        </p:blipFill>
        <p:spPr>
          <a:xfrm>
            <a:off x="365760" y="1755648"/>
            <a:ext cx="6949440" cy="4169664"/>
          </a:xfrm>
          <a:prstGeom prst="rect">
            <a:avLst/>
          </a:prstGeom>
        </p:spPr>
      </p:pic>
      <p:sp>
        <p:nvSpPr>
          <p:cNvPr id="7" name="Rectangle 6"/>
          <p:cNvSpPr/>
          <p:nvPr/>
        </p:nvSpPr>
        <p:spPr>
          <a:xfrm>
            <a:off x="7589520" y="1280160"/>
            <a:ext cx="42364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463040"/>
            <a:ext cx="3779215" cy="457200"/>
          </a:xfrm>
          <a:prstGeom prst="rect">
            <a:avLst/>
          </a:prstGeom>
          <a:noFill/>
        </p:spPr>
        <p:txBody>
          <a:bodyPr wrap="square" anchor="t">
            <a:spAutoFit/>
          </a:bodyPr>
          <a:lstStyle/>
          <a:p>
            <a:pPr algn="l">
              <a:lnSpc>
                <a:spcPct val="100000"/>
              </a:lnSpc>
            </a:pPr>
            <a:r>
              <a:rPr sz="1500" b="1" i="0">
                <a:solidFill>
                  <a:srgbClr val="14532D"/>
                </a:solidFill>
                <a:latin typeface="Calibri"/>
              </a:rPr>
              <a:t>Constat</a:t>
            </a:r>
          </a:p>
        </p:txBody>
      </p:sp>
      <p:sp>
        <p:nvSpPr>
          <p:cNvPr id="9" name="TextBox 8"/>
          <p:cNvSpPr txBox="1"/>
          <p:nvPr/>
        </p:nvSpPr>
        <p:spPr>
          <a:xfrm>
            <a:off x="7818120" y="1965960"/>
            <a:ext cx="3779215" cy="4206240"/>
          </a:xfrm>
          <a:prstGeom prst="rect">
            <a:avLst/>
          </a:prstGeom>
          <a:noFill/>
        </p:spPr>
        <p:txBody>
          <a:bodyPr wrap="square" anchor="t">
            <a:spAutoFit/>
          </a:bodyPr>
          <a:lstStyle/>
          <a:p>
            <a:pPr algn="l">
              <a:lnSpc>
                <a:spcPct val="115000"/>
              </a:lnSpc>
            </a:pPr>
            <a:r>
              <a:rPr sz="1300" b="0" i="0">
                <a:solidFill>
                  <a:srgbClr val="1B241D"/>
                </a:solidFill>
                <a:latin typeface="Calibri"/>
              </a:rPr>
              <a:t>Instagram Ads génère le plus de CA (950 k$) et la meilleure rétention (54%), malgré un ROI plus modéré (25) lié à son budget élevé (37 k$).</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Influenceur a aussi la pire rétention (42%) : canal à réduire ou réattribuer en priorité.</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Recommandation : conserver Instagram Ads pour le volume et la fidélisation, en optimisant le ciblage plutôt qu'en augmentant le budget brut.</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clients</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Question stratégique : comment améliorer la rétention ?</a:t>
            </a:r>
          </a:p>
        </p:txBody>
      </p:sp>
      <p:pic>
        <p:nvPicPr>
          <p:cNvPr id="6" name="Picture 5" descr="pareto_clients.png"/>
          <p:cNvPicPr>
            <a:picLocks noChangeAspect="1"/>
          </p:cNvPicPr>
          <p:nvPr/>
        </p:nvPicPr>
        <p:blipFill>
          <a:blip r:embed="rId2"/>
          <a:stretch>
            <a:fillRect/>
          </a:stretch>
        </p:blipFill>
        <p:spPr>
          <a:xfrm>
            <a:off x="365760" y="1606731"/>
            <a:ext cx="6949440" cy="4467497"/>
          </a:xfrm>
          <a:prstGeom prst="rect">
            <a:avLst/>
          </a:prstGeom>
        </p:spPr>
      </p:pic>
      <p:sp>
        <p:nvSpPr>
          <p:cNvPr id="7" name="Rectangle 6"/>
          <p:cNvSpPr/>
          <p:nvPr/>
        </p:nvSpPr>
        <p:spPr>
          <a:xfrm>
            <a:off x="7589520" y="1280160"/>
            <a:ext cx="42364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463040"/>
            <a:ext cx="3779215" cy="457200"/>
          </a:xfrm>
          <a:prstGeom prst="rect">
            <a:avLst/>
          </a:prstGeom>
          <a:noFill/>
        </p:spPr>
        <p:txBody>
          <a:bodyPr wrap="square" anchor="t">
            <a:spAutoFit/>
          </a:bodyPr>
          <a:lstStyle/>
          <a:p>
            <a:pPr algn="l">
              <a:lnSpc>
                <a:spcPct val="100000"/>
              </a:lnSpc>
            </a:pPr>
            <a:r>
              <a:rPr sz="1500" b="1" i="0">
                <a:solidFill>
                  <a:srgbClr val="14532D"/>
                </a:solidFill>
                <a:latin typeface="Calibri"/>
              </a:rPr>
              <a:t>Constat</a:t>
            </a:r>
          </a:p>
        </p:txBody>
      </p:sp>
      <p:sp>
        <p:nvSpPr>
          <p:cNvPr id="9" name="TextBox 8"/>
          <p:cNvSpPr txBox="1"/>
          <p:nvPr/>
        </p:nvSpPr>
        <p:spPr>
          <a:xfrm>
            <a:off x="7818120" y="1965960"/>
            <a:ext cx="3779215" cy="4206240"/>
          </a:xfrm>
          <a:prstGeom prst="rect">
            <a:avLst/>
          </a:prstGeom>
          <a:noFill/>
        </p:spPr>
        <p:txBody>
          <a:bodyPr wrap="square" anchor="t">
            <a:spAutoFit/>
          </a:bodyPr>
          <a:lstStyle/>
          <a:p>
            <a:pPr algn="l">
              <a:lnSpc>
                <a:spcPct val="115000"/>
              </a:lnSpc>
            </a:pPr>
            <a:r>
              <a:rPr sz="1300" b="0" i="0">
                <a:solidFill>
                  <a:srgbClr val="1B241D"/>
                </a:solidFill>
                <a:latin typeface="Calibri"/>
              </a:rPr>
              <a:t>1 734 clients, dont 73,2% sont récurrents (≥2 commandes) : un socle de fidélité globalement sain.</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31,9% des clients génèrent 80% du CA — une concentration modérée, plutôt rassurante par rapport à un Pareto classique.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Recommandation : capitaliser sur cette fidélité existante par une segmentation différenciée (slide suivante).</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Analyse clients</a:t>
            </a:r>
          </a:p>
        </p:txBody>
      </p:sp>
      <p:sp>
        <p:nvSpPr>
          <p:cNvPr id="5" name="TextBox 4"/>
          <p:cNvSpPr txBox="1"/>
          <p:nvPr/>
        </p:nvSpPr>
        <p:spPr>
          <a:xfrm>
            <a:off x="457200" y="640080"/>
            <a:ext cx="9601200" cy="365760"/>
          </a:xfrm>
          <a:prstGeom prst="rect">
            <a:avLst/>
          </a:prstGeom>
          <a:noFill/>
        </p:spPr>
        <p:txBody>
          <a:bodyPr wrap="square" anchor="t">
            <a:spAutoFit/>
          </a:bodyPr>
          <a:lstStyle/>
          <a:p>
            <a:pPr algn="l">
              <a:lnSpc>
                <a:spcPct val="100000"/>
              </a:lnSpc>
            </a:pPr>
            <a:r>
              <a:rPr sz="1300" b="0" i="0">
                <a:solidFill>
                  <a:srgbClr val="66BB6A"/>
                </a:solidFill>
                <a:latin typeface="Calibri"/>
              </a:rPr>
              <a:t>Segmentation par valeur vie client (quartiles)</a:t>
            </a:r>
          </a:p>
        </p:txBody>
      </p:sp>
      <p:pic>
        <p:nvPicPr>
          <p:cNvPr id="6" name="Picture 5" descr="segmentation_clients.png"/>
          <p:cNvPicPr>
            <a:picLocks noChangeAspect="1"/>
          </p:cNvPicPr>
          <p:nvPr/>
        </p:nvPicPr>
        <p:blipFill>
          <a:blip r:embed="rId2"/>
          <a:stretch>
            <a:fillRect/>
          </a:stretch>
        </p:blipFill>
        <p:spPr>
          <a:xfrm>
            <a:off x="365760" y="1280160"/>
            <a:ext cx="5120640" cy="5120640"/>
          </a:xfrm>
          <a:prstGeom prst="rect">
            <a:avLst/>
          </a:prstGeom>
        </p:spPr>
      </p:pic>
      <p:sp>
        <p:nvSpPr>
          <p:cNvPr id="7" name="Rectangle 6"/>
          <p:cNvSpPr/>
          <p:nvPr/>
        </p:nvSpPr>
        <p:spPr>
          <a:xfrm>
            <a:off x="5760720" y="1280160"/>
            <a:ext cx="6065215" cy="5120640"/>
          </a:xfrm>
          <a:prstGeom prst="rect">
            <a:avLst/>
          </a:prstGeom>
          <a:solidFill>
            <a:srgbClr val="EA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463040"/>
            <a:ext cx="5608015" cy="457200"/>
          </a:xfrm>
          <a:prstGeom prst="rect">
            <a:avLst/>
          </a:prstGeom>
          <a:noFill/>
        </p:spPr>
        <p:txBody>
          <a:bodyPr wrap="square" anchor="t">
            <a:spAutoFit/>
          </a:bodyPr>
          <a:lstStyle/>
          <a:p>
            <a:pPr algn="l">
              <a:lnSpc>
                <a:spcPct val="100000"/>
              </a:lnSpc>
            </a:pPr>
            <a:r>
              <a:rPr sz="1500" b="1" i="0">
                <a:solidFill>
                  <a:srgbClr val="14532D"/>
                </a:solidFill>
                <a:latin typeface="Calibri"/>
              </a:rPr>
              <a:t>Constat</a:t>
            </a:r>
          </a:p>
        </p:txBody>
      </p:sp>
      <p:sp>
        <p:nvSpPr>
          <p:cNvPr id="9" name="TextBox 8"/>
          <p:cNvSpPr txBox="1"/>
          <p:nvPr/>
        </p:nvSpPr>
        <p:spPr>
          <a:xfrm>
            <a:off x="5989320" y="1965960"/>
            <a:ext cx="5608015" cy="4206240"/>
          </a:xfrm>
          <a:prstGeom prst="rect">
            <a:avLst/>
          </a:prstGeom>
          <a:noFill/>
        </p:spPr>
        <p:txBody>
          <a:bodyPr wrap="square" anchor="t">
            <a:spAutoFit/>
          </a:bodyPr>
          <a:lstStyle/>
          <a:p>
            <a:pPr algn="l">
              <a:lnSpc>
                <a:spcPct val="115000"/>
              </a:lnSpc>
            </a:pPr>
            <a:r>
              <a:rPr sz="1300" b="0" i="0">
                <a:solidFill>
                  <a:srgbClr val="1B241D"/>
                </a:solidFill>
                <a:latin typeface="Calibri"/>
              </a:rPr>
              <a:t>Le segment Platine (25% des clients) génère 72% du CA total (1,81 M$), contre seulement 1,4% pour le segment Bronze.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Une forte polarisation de la valeur client, à exploiter par une stratégie différenciée plutôt qu'uniforme.</a:t>
            </a:r>
          </a:p>
          <a:p>
            <a:pPr algn="l">
              <a:lnSpc>
                <a:spcPct val="115000"/>
              </a:lnSpc>
            </a:pPr>
            <a:r>
              <a:rPr sz="1300" b="0" i="0">
                <a:solidFill>
                  <a:srgbClr val="1B241D"/>
                </a:solidFill>
                <a:latin typeface="Calibri"/>
              </a:rPr>
              <a:t/>
            </a:r>
          </a:p>
          <a:p>
            <a:pPr algn="l">
              <a:lnSpc>
                <a:spcPct val="115000"/>
              </a:lnSpc>
            </a:pPr>
            <a:r>
              <a:rPr sz="1300" b="0" i="0">
                <a:solidFill>
                  <a:srgbClr val="1B241D"/>
                </a:solidFill>
                <a:latin typeface="Calibri"/>
              </a:rPr>
              <a:t>Recommandation : programme VIP pour Platine, offres d'activation pour Bronze/Argent (867 clients, 7,8% du CA).</a:t>
            </a:r>
          </a:p>
        </p:txBody>
      </p:sp>
      <p:sp>
        <p:nvSpPr>
          <p:cNvPr id="10" name="Rectangle 9"/>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2" name="TextBox 11"/>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5 recommandations stratégiques</a:t>
            </a:r>
          </a:p>
        </p:txBody>
      </p:sp>
      <p:sp>
        <p:nvSpPr>
          <p:cNvPr id="5" name="Rectangle 4"/>
          <p:cNvSpPr/>
          <p:nvPr/>
        </p:nvSpPr>
        <p:spPr>
          <a:xfrm>
            <a:off x="457200" y="1325880"/>
            <a:ext cx="640080" cy="64008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640080" cy="640080"/>
          </a:xfrm>
          <a:prstGeom prst="rect">
            <a:avLst/>
          </a:prstGeom>
          <a:noFill/>
        </p:spPr>
        <p:txBody>
          <a:bodyPr wrap="square" anchor="ctr">
            <a:spAutoFit/>
          </a:bodyPr>
          <a:lstStyle/>
          <a:p>
            <a:pPr algn="ctr">
              <a:lnSpc>
                <a:spcPct val="100000"/>
              </a:lnSpc>
            </a:pPr>
            <a:r>
              <a:rPr sz="2400" b="1" i="0">
                <a:solidFill>
                  <a:srgbClr val="FFFFFF"/>
                </a:solidFill>
                <a:latin typeface="Calibri"/>
              </a:rPr>
              <a:t>1</a:t>
            </a:r>
          </a:p>
        </p:txBody>
      </p:sp>
      <p:sp>
        <p:nvSpPr>
          <p:cNvPr id="7" name="TextBox 6"/>
          <p:cNvSpPr txBox="1"/>
          <p:nvPr/>
        </p:nvSpPr>
        <p:spPr>
          <a:xfrm>
            <a:off x="1280160" y="1307592"/>
            <a:ext cx="10241280" cy="365760"/>
          </a:xfrm>
          <a:prstGeom prst="rect">
            <a:avLst/>
          </a:prstGeom>
          <a:noFill/>
        </p:spPr>
        <p:txBody>
          <a:bodyPr wrap="square" anchor="t">
            <a:spAutoFit/>
          </a:bodyPr>
          <a:lstStyle/>
          <a:p>
            <a:pPr algn="l">
              <a:lnSpc>
                <a:spcPct val="100000"/>
              </a:lnSpc>
            </a:pPr>
            <a:r>
              <a:rPr sz="1600" b="1" i="0">
                <a:solidFill>
                  <a:srgbClr val="14532D"/>
                </a:solidFill>
                <a:latin typeface="Calibri"/>
              </a:rPr>
              <a:t>Prioriser l'Électronique, réduire son taux de retour</a:t>
            </a:r>
          </a:p>
        </p:txBody>
      </p:sp>
      <p:sp>
        <p:nvSpPr>
          <p:cNvPr id="8" name="TextBox 7"/>
          <p:cNvSpPr txBox="1"/>
          <p:nvPr/>
        </p:nvSpPr>
        <p:spPr>
          <a:xfrm>
            <a:off x="1280160" y="1673352"/>
            <a:ext cx="10241280" cy="548640"/>
          </a:xfrm>
          <a:prstGeom prst="rect">
            <a:avLst/>
          </a:prstGeom>
          <a:noFill/>
        </p:spPr>
        <p:txBody>
          <a:bodyPr wrap="square" anchor="t">
            <a:spAutoFit/>
          </a:bodyPr>
          <a:lstStyle/>
          <a:p>
            <a:pPr algn="l">
              <a:lnSpc>
                <a:spcPct val="100000"/>
              </a:lnSpc>
            </a:pPr>
            <a:r>
              <a:rPr sz="1250" b="0" i="0">
                <a:solidFill>
                  <a:srgbClr val="1B241D"/>
                </a:solidFill>
                <a:latin typeface="Calibri"/>
              </a:rPr>
              <a:t>74,6% du CA et 82% du profit ; agir sur les fiches produits et le contrôle qualité fournisseurs.</a:t>
            </a:r>
          </a:p>
        </p:txBody>
      </p:sp>
      <p:sp>
        <p:nvSpPr>
          <p:cNvPr id="9" name="Rectangle 8"/>
          <p:cNvSpPr/>
          <p:nvPr/>
        </p:nvSpPr>
        <p:spPr>
          <a:xfrm>
            <a:off x="457200" y="2313432"/>
            <a:ext cx="640080" cy="64008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13432"/>
            <a:ext cx="640080" cy="640080"/>
          </a:xfrm>
          <a:prstGeom prst="rect">
            <a:avLst/>
          </a:prstGeom>
          <a:noFill/>
        </p:spPr>
        <p:txBody>
          <a:bodyPr wrap="square" anchor="ctr">
            <a:spAutoFit/>
          </a:bodyPr>
          <a:lstStyle/>
          <a:p>
            <a:pPr algn="ctr">
              <a:lnSpc>
                <a:spcPct val="100000"/>
              </a:lnSpc>
            </a:pPr>
            <a:r>
              <a:rPr sz="2400" b="1" i="0">
                <a:solidFill>
                  <a:srgbClr val="FFFFFF"/>
                </a:solidFill>
                <a:latin typeface="Calibri"/>
              </a:rPr>
              <a:t>2</a:t>
            </a:r>
          </a:p>
        </p:txBody>
      </p:sp>
      <p:sp>
        <p:nvSpPr>
          <p:cNvPr id="11" name="TextBox 10"/>
          <p:cNvSpPr txBox="1"/>
          <p:nvPr/>
        </p:nvSpPr>
        <p:spPr>
          <a:xfrm>
            <a:off x="1280160" y="2295144"/>
            <a:ext cx="10241280" cy="365760"/>
          </a:xfrm>
          <a:prstGeom prst="rect">
            <a:avLst/>
          </a:prstGeom>
          <a:noFill/>
        </p:spPr>
        <p:txBody>
          <a:bodyPr wrap="square" anchor="t">
            <a:spAutoFit/>
          </a:bodyPr>
          <a:lstStyle/>
          <a:p>
            <a:pPr algn="l">
              <a:lnSpc>
                <a:spcPct val="100000"/>
              </a:lnSpc>
            </a:pPr>
            <a:r>
              <a:rPr sz="1600" b="1" i="0">
                <a:solidFill>
                  <a:srgbClr val="14532D"/>
                </a:solidFill>
                <a:latin typeface="Calibri"/>
              </a:rPr>
              <a:t>Revoir l'économie unitaire de Mode et Beauté</a:t>
            </a:r>
          </a:p>
        </p:txBody>
      </p:sp>
      <p:sp>
        <p:nvSpPr>
          <p:cNvPr id="12" name="TextBox 11"/>
          <p:cNvSpPr txBox="1"/>
          <p:nvPr/>
        </p:nvSpPr>
        <p:spPr>
          <a:xfrm>
            <a:off x="1280160" y="2660904"/>
            <a:ext cx="10241280" cy="548640"/>
          </a:xfrm>
          <a:prstGeom prst="rect">
            <a:avLst/>
          </a:prstGeom>
          <a:noFill/>
        </p:spPr>
        <p:txBody>
          <a:bodyPr wrap="square" anchor="t">
            <a:spAutoFit/>
          </a:bodyPr>
          <a:lstStyle/>
          <a:p>
            <a:pPr algn="l">
              <a:lnSpc>
                <a:spcPct val="100000"/>
              </a:lnSpc>
            </a:pPr>
            <a:r>
              <a:rPr sz="1250" b="0" i="0">
                <a:solidFill>
                  <a:srgbClr val="1B241D"/>
                </a:solidFill>
                <a:latin typeface="Calibri"/>
              </a:rPr>
              <a:t>Coûts logistiques/marketing absorbant 57%/88% de la marge ; seuil de livraison gratuite, bundles.</a:t>
            </a:r>
          </a:p>
        </p:txBody>
      </p:sp>
      <p:sp>
        <p:nvSpPr>
          <p:cNvPr id="13" name="Rectangle 12"/>
          <p:cNvSpPr/>
          <p:nvPr/>
        </p:nvSpPr>
        <p:spPr>
          <a:xfrm>
            <a:off x="457200" y="3300984"/>
            <a:ext cx="640080" cy="64008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300984"/>
            <a:ext cx="640080" cy="640080"/>
          </a:xfrm>
          <a:prstGeom prst="rect">
            <a:avLst/>
          </a:prstGeom>
          <a:noFill/>
        </p:spPr>
        <p:txBody>
          <a:bodyPr wrap="square" anchor="ctr">
            <a:spAutoFit/>
          </a:bodyPr>
          <a:lstStyle/>
          <a:p>
            <a:pPr algn="ctr">
              <a:lnSpc>
                <a:spcPct val="100000"/>
              </a:lnSpc>
            </a:pPr>
            <a:r>
              <a:rPr sz="2400" b="1" i="0">
                <a:solidFill>
                  <a:srgbClr val="FFFFFF"/>
                </a:solidFill>
                <a:latin typeface="Calibri"/>
              </a:rPr>
              <a:t>3</a:t>
            </a:r>
          </a:p>
        </p:txBody>
      </p:sp>
      <p:sp>
        <p:nvSpPr>
          <p:cNvPr id="15" name="TextBox 14"/>
          <p:cNvSpPr txBox="1"/>
          <p:nvPr/>
        </p:nvSpPr>
        <p:spPr>
          <a:xfrm>
            <a:off x="1280160" y="3282696"/>
            <a:ext cx="10241280" cy="365760"/>
          </a:xfrm>
          <a:prstGeom prst="rect">
            <a:avLst/>
          </a:prstGeom>
          <a:noFill/>
        </p:spPr>
        <p:txBody>
          <a:bodyPr wrap="square" anchor="t">
            <a:spAutoFit/>
          </a:bodyPr>
          <a:lstStyle/>
          <a:p>
            <a:pPr algn="l">
              <a:lnSpc>
                <a:spcPct val="100000"/>
              </a:lnSpc>
            </a:pPr>
            <a:r>
              <a:rPr sz="1600" b="1" i="0">
                <a:solidFill>
                  <a:srgbClr val="14532D"/>
                </a:solidFill>
                <a:latin typeface="Calibri"/>
              </a:rPr>
              <a:t>Auditer en urgence l'anomalie de Douala</a:t>
            </a:r>
          </a:p>
        </p:txBody>
      </p:sp>
      <p:sp>
        <p:nvSpPr>
          <p:cNvPr id="16" name="TextBox 15"/>
          <p:cNvSpPr txBox="1"/>
          <p:nvPr/>
        </p:nvSpPr>
        <p:spPr>
          <a:xfrm>
            <a:off x="1280160" y="3648456"/>
            <a:ext cx="10241280" cy="548640"/>
          </a:xfrm>
          <a:prstGeom prst="rect">
            <a:avLst/>
          </a:prstGeom>
          <a:noFill/>
        </p:spPr>
        <p:txBody>
          <a:bodyPr wrap="square" anchor="t">
            <a:spAutoFit/>
          </a:bodyPr>
          <a:lstStyle/>
          <a:p>
            <a:pPr algn="l">
              <a:lnSpc>
                <a:spcPct val="100000"/>
              </a:lnSpc>
            </a:pPr>
            <a:r>
              <a:rPr sz="1250" b="0" i="0">
                <a:solidFill>
                  <a:srgbClr val="1B241D"/>
                </a:solidFill>
                <a:latin typeface="Calibri"/>
              </a:rPr>
              <a:t>12,9% d'annulation vs &lt;1% ailleurs ; identifier la cause racine avant d'investir davantage.</a:t>
            </a:r>
          </a:p>
        </p:txBody>
      </p:sp>
      <p:sp>
        <p:nvSpPr>
          <p:cNvPr id="17" name="Rectangle 16"/>
          <p:cNvSpPr/>
          <p:nvPr/>
        </p:nvSpPr>
        <p:spPr>
          <a:xfrm>
            <a:off x="457200" y="4288536"/>
            <a:ext cx="640080" cy="64008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288536"/>
            <a:ext cx="640080" cy="640080"/>
          </a:xfrm>
          <a:prstGeom prst="rect">
            <a:avLst/>
          </a:prstGeom>
          <a:noFill/>
        </p:spPr>
        <p:txBody>
          <a:bodyPr wrap="square" anchor="ctr">
            <a:spAutoFit/>
          </a:bodyPr>
          <a:lstStyle/>
          <a:p>
            <a:pPr algn="ctr">
              <a:lnSpc>
                <a:spcPct val="100000"/>
              </a:lnSpc>
            </a:pPr>
            <a:r>
              <a:rPr sz="2400" b="1" i="0">
                <a:solidFill>
                  <a:srgbClr val="FFFFFF"/>
                </a:solidFill>
                <a:latin typeface="Calibri"/>
              </a:rPr>
              <a:t>4</a:t>
            </a:r>
          </a:p>
        </p:txBody>
      </p:sp>
      <p:sp>
        <p:nvSpPr>
          <p:cNvPr id="19" name="TextBox 18"/>
          <p:cNvSpPr txBox="1"/>
          <p:nvPr/>
        </p:nvSpPr>
        <p:spPr>
          <a:xfrm>
            <a:off x="1280160" y="4270248"/>
            <a:ext cx="10241280" cy="365760"/>
          </a:xfrm>
          <a:prstGeom prst="rect">
            <a:avLst/>
          </a:prstGeom>
          <a:noFill/>
        </p:spPr>
        <p:txBody>
          <a:bodyPr wrap="square" anchor="t">
            <a:spAutoFit/>
          </a:bodyPr>
          <a:lstStyle/>
          <a:p>
            <a:pPr algn="l">
              <a:lnSpc>
                <a:spcPct val="100000"/>
              </a:lnSpc>
            </a:pPr>
            <a:r>
              <a:rPr sz="1600" b="1" i="0">
                <a:solidFill>
                  <a:srgbClr val="14532D"/>
                </a:solidFill>
                <a:latin typeface="Calibri"/>
              </a:rPr>
              <a:t>Réallouer le budget marketing vers l'efficacité</a:t>
            </a:r>
          </a:p>
        </p:txBody>
      </p:sp>
      <p:sp>
        <p:nvSpPr>
          <p:cNvPr id="20" name="TextBox 19"/>
          <p:cNvSpPr txBox="1"/>
          <p:nvPr/>
        </p:nvSpPr>
        <p:spPr>
          <a:xfrm>
            <a:off x="1280160" y="4636008"/>
            <a:ext cx="10241280" cy="548640"/>
          </a:xfrm>
          <a:prstGeom prst="rect">
            <a:avLst/>
          </a:prstGeom>
          <a:noFill/>
        </p:spPr>
        <p:txBody>
          <a:bodyPr wrap="square" anchor="t">
            <a:spAutoFit/>
          </a:bodyPr>
          <a:lstStyle/>
          <a:p>
            <a:pPr algn="l">
              <a:lnSpc>
                <a:spcPct val="100000"/>
              </a:lnSpc>
            </a:pPr>
            <a:r>
              <a:rPr sz="1250" b="0" i="0">
                <a:solidFill>
                  <a:srgbClr val="1B241D"/>
                </a:solidFill>
                <a:latin typeface="Calibri"/>
              </a:rPr>
              <a:t>Renforcer Email (ROI 230) et Google Ads (ROI 50) ; réduire Influenceur (ROI 21,5).</a:t>
            </a:r>
          </a:p>
        </p:txBody>
      </p:sp>
      <p:sp>
        <p:nvSpPr>
          <p:cNvPr id="21" name="Rectangle 20"/>
          <p:cNvSpPr/>
          <p:nvPr/>
        </p:nvSpPr>
        <p:spPr>
          <a:xfrm>
            <a:off x="457200" y="5276088"/>
            <a:ext cx="640080" cy="64008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276088"/>
            <a:ext cx="640080" cy="640080"/>
          </a:xfrm>
          <a:prstGeom prst="rect">
            <a:avLst/>
          </a:prstGeom>
          <a:noFill/>
        </p:spPr>
        <p:txBody>
          <a:bodyPr wrap="square" anchor="ctr">
            <a:spAutoFit/>
          </a:bodyPr>
          <a:lstStyle/>
          <a:p>
            <a:pPr algn="ctr">
              <a:lnSpc>
                <a:spcPct val="100000"/>
              </a:lnSpc>
            </a:pPr>
            <a:r>
              <a:rPr sz="2400" b="1" i="0">
                <a:solidFill>
                  <a:srgbClr val="FFFFFF"/>
                </a:solidFill>
                <a:latin typeface="Calibri"/>
              </a:rPr>
              <a:t>5</a:t>
            </a:r>
          </a:p>
        </p:txBody>
      </p:sp>
      <p:sp>
        <p:nvSpPr>
          <p:cNvPr id="23" name="TextBox 22"/>
          <p:cNvSpPr txBox="1"/>
          <p:nvPr/>
        </p:nvSpPr>
        <p:spPr>
          <a:xfrm>
            <a:off x="1280160" y="5257800"/>
            <a:ext cx="10241280" cy="365760"/>
          </a:xfrm>
          <a:prstGeom prst="rect">
            <a:avLst/>
          </a:prstGeom>
          <a:noFill/>
        </p:spPr>
        <p:txBody>
          <a:bodyPr wrap="square" anchor="t">
            <a:spAutoFit/>
          </a:bodyPr>
          <a:lstStyle/>
          <a:p>
            <a:pPr algn="l">
              <a:lnSpc>
                <a:spcPct val="100000"/>
              </a:lnSpc>
            </a:pPr>
            <a:r>
              <a:rPr sz="1600" b="1" i="0">
                <a:solidFill>
                  <a:srgbClr val="14532D"/>
                </a:solidFill>
                <a:latin typeface="Calibri"/>
              </a:rPr>
              <a:t>Structurer un programme de fidélisation par segment</a:t>
            </a:r>
          </a:p>
        </p:txBody>
      </p:sp>
      <p:sp>
        <p:nvSpPr>
          <p:cNvPr id="24" name="TextBox 23"/>
          <p:cNvSpPr txBox="1"/>
          <p:nvPr/>
        </p:nvSpPr>
        <p:spPr>
          <a:xfrm>
            <a:off x="1280160" y="5623560"/>
            <a:ext cx="10241280" cy="548640"/>
          </a:xfrm>
          <a:prstGeom prst="rect">
            <a:avLst/>
          </a:prstGeom>
          <a:noFill/>
        </p:spPr>
        <p:txBody>
          <a:bodyPr wrap="square" anchor="t">
            <a:spAutoFit/>
          </a:bodyPr>
          <a:lstStyle/>
          <a:p>
            <a:pPr algn="l">
              <a:lnSpc>
                <a:spcPct val="100000"/>
              </a:lnSpc>
            </a:pPr>
            <a:r>
              <a:rPr sz="1250" b="0" i="0">
                <a:solidFill>
                  <a:srgbClr val="1B241D"/>
                </a:solidFill>
                <a:latin typeface="Calibri"/>
              </a:rPr>
              <a:t>VIP pour Platine (72% du CA) ; offres d'activation pour Bronze/Argent (7,8% du CA).</a:t>
            </a:r>
          </a:p>
        </p:txBody>
      </p:sp>
      <p:sp>
        <p:nvSpPr>
          <p:cNvPr id="25" name="Rectangle 24"/>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27" name="TextBox 26"/>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601200" cy="548640"/>
          </a:xfrm>
          <a:prstGeom prst="rect">
            <a:avLst/>
          </a:prstGeom>
          <a:noFill/>
        </p:spPr>
        <p:txBody>
          <a:bodyPr wrap="square" anchor="t">
            <a:spAutoFit/>
          </a:bodyPr>
          <a:lstStyle/>
          <a:p>
            <a:pPr algn="l">
              <a:lnSpc>
                <a:spcPct val="100000"/>
              </a:lnSpc>
            </a:pPr>
            <a:r>
              <a:rPr sz="2600" b="1" i="0">
                <a:solidFill>
                  <a:srgbClr val="FFFFFF"/>
                </a:solidFill>
                <a:latin typeface="Calibri"/>
              </a:rPr>
              <a:t>Conclusion &amp; plan d'action</a:t>
            </a:r>
          </a:p>
        </p:txBody>
      </p:sp>
      <p:sp>
        <p:nvSpPr>
          <p:cNvPr id="5" name="TextBox 4"/>
          <p:cNvSpPr txBox="1"/>
          <p:nvPr/>
        </p:nvSpPr>
        <p:spPr>
          <a:xfrm>
            <a:off x="457200" y="1371600"/>
            <a:ext cx="11247120" cy="1463040"/>
          </a:xfrm>
          <a:prstGeom prst="rect">
            <a:avLst/>
          </a:prstGeom>
          <a:noFill/>
        </p:spPr>
        <p:txBody>
          <a:bodyPr wrap="square" anchor="t">
            <a:spAutoFit/>
          </a:bodyPr>
          <a:lstStyle/>
          <a:p>
            <a:pPr algn="l">
              <a:lnSpc>
                <a:spcPct val="100000"/>
              </a:lnSpc>
            </a:pPr>
            <a:r>
              <a:rPr sz="1500" b="0" i="0">
                <a:solidFill>
                  <a:srgbClr val="1B241D"/>
                </a:solidFill>
                <a:latin typeface="Calibri"/>
              </a:rPr>
              <a:t>AfriMarket dispose d'un socle commercial sain : 2,51 M$ de CA, 754 k$ de profit net estimé, une base client majoritairement fidèle (73,2% de récurrence) et un taux d'annulation faible (1,9%).</a:t>
            </a:r>
          </a:p>
        </p:txBody>
      </p:sp>
      <p:sp>
        <p:nvSpPr>
          <p:cNvPr id="6" name="TextBox 5"/>
          <p:cNvSpPr txBox="1"/>
          <p:nvPr/>
        </p:nvSpPr>
        <p:spPr>
          <a:xfrm>
            <a:off x="457200" y="2743200"/>
            <a:ext cx="11247120" cy="365760"/>
          </a:xfrm>
          <a:prstGeom prst="rect">
            <a:avLst/>
          </a:prstGeom>
          <a:noFill/>
        </p:spPr>
        <p:txBody>
          <a:bodyPr wrap="square" anchor="t">
            <a:spAutoFit/>
          </a:bodyPr>
          <a:lstStyle/>
          <a:p>
            <a:pPr algn="l">
              <a:lnSpc>
                <a:spcPct val="100000"/>
              </a:lnSpc>
            </a:pPr>
            <a:r>
              <a:rPr sz="1600" b="1" i="0">
                <a:solidFill>
                  <a:srgbClr val="14532D"/>
                </a:solidFill>
                <a:latin typeface="Calibri"/>
              </a:rPr>
              <a:t>3 priorités d'action immédiates :</a:t>
            </a:r>
          </a:p>
        </p:txBody>
      </p:sp>
      <p:sp>
        <p:nvSpPr>
          <p:cNvPr id="7" name="TextBox 6"/>
          <p:cNvSpPr txBox="1"/>
          <p:nvPr/>
        </p:nvSpPr>
        <p:spPr>
          <a:xfrm>
            <a:off x="640080" y="3200400"/>
            <a:ext cx="10881360" cy="2011680"/>
          </a:xfrm>
          <a:prstGeom prst="rect">
            <a:avLst/>
          </a:prstGeom>
          <a:noFill/>
        </p:spPr>
        <p:txBody>
          <a:bodyPr wrap="square">
            <a:spAutoFit/>
          </a:bodyPr>
          <a:lstStyle/>
          <a:p>
            <a:pPr>
              <a:spcAft>
                <a:spcPts val="1200"/>
              </a:spcAft>
            </a:pPr>
            <a:r>
              <a:rPr sz="1400">
                <a:solidFill>
                  <a:srgbClr val="1B241D"/>
                </a:solidFill>
                <a:latin typeface="Calibri"/>
              </a:rPr>
              <a:t>●  Consolider l'Électronique en maîtrisant son taux de retour</a:t>
            </a:r>
          </a:p>
          <a:p>
            <a:pPr>
              <a:spcAft>
                <a:spcPts val="1200"/>
              </a:spcAft>
            </a:pPr>
            <a:r>
              <a:rPr sz="1400">
                <a:solidFill>
                  <a:srgbClr val="1B241D"/>
                </a:solidFill>
                <a:latin typeface="Calibri"/>
              </a:rPr>
              <a:t>●  Corriger la rentabilité structurelle de Mode et Beauté par le panier moyen</a:t>
            </a:r>
          </a:p>
          <a:p>
            <a:pPr>
              <a:spcAft>
                <a:spcPts val="1200"/>
              </a:spcAft>
            </a:pPr>
            <a:r>
              <a:rPr sz="1400">
                <a:solidFill>
                  <a:srgbClr val="1B241D"/>
                </a:solidFill>
                <a:latin typeface="Calibri"/>
              </a:rPr>
              <a:t>●  Traiter sans délai l'anomalie opérationnelle de Douala</a:t>
            </a:r>
          </a:p>
        </p:txBody>
      </p:sp>
      <p:sp>
        <p:nvSpPr>
          <p:cNvPr id="8" name="TextBox 7"/>
          <p:cNvSpPr txBox="1"/>
          <p:nvPr/>
        </p:nvSpPr>
        <p:spPr>
          <a:xfrm>
            <a:off x="457200" y="5212080"/>
            <a:ext cx="11247120" cy="1097280"/>
          </a:xfrm>
          <a:prstGeom prst="rect">
            <a:avLst/>
          </a:prstGeom>
          <a:noFill/>
        </p:spPr>
        <p:txBody>
          <a:bodyPr wrap="square" anchor="t">
            <a:spAutoFit/>
          </a:bodyPr>
          <a:lstStyle/>
          <a:p>
            <a:pPr algn="l">
              <a:lnSpc>
                <a:spcPct val="100000"/>
              </a:lnSpc>
            </a:pPr>
            <a:r>
              <a:rPr sz="1300" b="0" i="1">
                <a:solidFill>
                  <a:srgbClr val="5A6B5D"/>
                </a:solidFill>
                <a:latin typeface="Calibri"/>
              </a:rPr>
              <a:t>Un réarbitrage du budget marketing (moins d'Influenceur, plus d'Email et Google Ads) peut améliorer le ROI global sans augmenter la dépense totale. Ces indicateurs sont pilotables mensuellement dans le dashboard Streamlit livré avec cette analyse.</a:t>
            </a:r>
          </a:p>
        </p:txBody>
      </p:sp>
      <p:sp>
        <p:nvSpPr>
          <p:cNvPr id="9" name="Rectangle 8"/>
          <p:cNvSpPr/>
          <p:nvPr/>
        </p:nvSpPr>
        <p:spPr>
          <a:xfrm>
            <a:off x="0" y="6565392"/>
            <a:ext cx="12191695" cy="292608"/>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47104"/>
            <a:ext cx="5486400" cy="292608"/>
          </a:xfrm>
          <a:prstGeom prst="rect">
            <a:avLst/>
          </a:prstGeom>
          <a:noFill/>
        </p:spPr>
        <p:txBody>
          <a:bodyPr wrap="square" anchor="ctr">
            <a:spAutoFit/>
          </a:bodyPr>
          <a:lstStyle/>
          <a:p>
            <a:pPr algn="l">
              <a:lnSpc>
                <a:spcPct val="100000"/>
              </a:lnSpc>
            </a:pPr>
            <a:r>
              <a:rPr sz="1000" b="0" i="0">
                <a:solidFill>
                  <a:srgbClr val="FFFFFF"/>
                </a:solidFill>
                <a:latin typeface="Calibri"/>
              </a:rPr>
              <a:t>AfriMarket — Analyse stratégique</a:t>
            </a:r>
          </a:p>
        </p:txBody>
      </p:sp>
      <p:sp>
        <p:nvSpPr>
          <p:cNvPr id="11" name="TextBox 10"/>
          <p:cNvSpPr txBox="1"/>
          <p:nvPr/>
        </p:nvSpPr>
        <p:spPr>
          <a:xfrm>
            <a:off x="11094415" y="6547104"/>
            <a:ext cx="731520" cy="292608"/>
          </a:xfrm>
          <a:prstGeom prst="rect">
            <a:avLst/>
          </a:prstGeom>
          <a:noFill/>
        </p:spPr>
        <p:txBody>
          <a:bodyPr wrap="square" anchor="ctr">
            <a:spAutoFit/>
          </a:bodyPr>
          <a:lstStyle/>
          <a:p>
            <a:pPr algn="r">
              <a:lnSpc>
                <a:spcPct val="100000"/>
              </a:lnSpc>
            </a:pPr>
            <a:r>
              <a:rPr sz="1000" b="0" i="0">
                <a:solidFill>
                  <a:srgbClr val="FFFFF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017520"/>
            <a:ext cx="12191695" cy="914400"/>
          </a:xfrm>
          <a:prstGeom prst="rect">
            <a:avLst/>
          </a:prstGeom>
          <a:noFill/>
        </p:spPr>
        <p:txBody>
          <a:bodyPr wrap="square" anchor="t">
            <a:spAutoFit/>
          </a:bodyPr>
          <a:lstStyle/>
          <a:p>
            <a:pPr algn="ctr">
              <a:lnSpc>
                <a:spcPct val="100000"/>
              </a:lnSpc>
            </a:pPr>
            <a:r>
              <a:rPr sz="4400" b="1" i="0">
                <a:solidFill>
                  <a:srgbClr val="FFFFFF"/>
                </a:solidFill>
                <a:latin typeface="Calibri"/>
              </a:rPr>
              <a:t>Merci</a:t>
            </a:r>
          </a:p>
        </p:txBody>
      </p:sp>
      <p:sp>
        <p:nvSpPr>
          <p:cNvPr id="4" name="TextBox 3"/>
          <p:cNvSpPr txBox="1"/>
          <p:nvPr/>
        </p:nvSpPr>
        <p:spPr>
          <a:xfrm>
            <a:off x="0" y="3840480"/>
            <a:ext cx="12191695" cy="548640"/>
          </a:xfrm>
          <a:prstGeom prst="rect">
            <a:avLst/>
          </a:prstGeom>
          <a:noFill/>
        </p:spPr>
        <p:txBody>
          <a:bodyPr wrap="square" anchor="t">
            <a:spAutoFit/>
          </a:bodyPr>
          <a:lstStyle/>
          <a:p>
            <a:pPr algn="ctr">
              <a:lnSpc>
                <a:spcPct val="100000"/>
              </a:lnSpc>
            </a:pPr>
            <a:r>
              <a:rPr sz="1800" b="0" i="0">
                <a:solidFill>
                  <a:srgbClr val="66BB6A"/>
                </a:solidFill>
                <a:latin typeface="Calibr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